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9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2942"/>
                </a:solidFill>
                <a:latin typeface="Arial"/>
              </a:rPr>
              <a:t>Channel Adoption (current)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Portal</c:v>
                  </c:pt>
                  <c:pt idx="1">
                    <c:v>Mobile</c:v>
                  </c:pt>
                  <c:pt idx="2">
                    <c:v>Chatbot</c:v>
                  </c:pt>
                  <c:pt idx="3">
                    <c:v>eKYC</c:v>
                  </c:pt>
                  <c:pt idx="4">
                    <c:v>Self-svc cases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48</c:v>
                </c:pt>
                <c:pt idx="2">
                  <c:v>41</c:v>
                </c:pt>
                <c:pt idx="3">
                  <c:v>55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Presentation Deck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frameworks, diagrams, roadmaps &amp; charts for enterprise programs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474720"/>
            <a:ext cx="201168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Pack  ·  Version 1.0  · 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 slides into steering packs, business cases, and workstream briefings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Master Deck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as a modular asset library — copy, recolor, and recombine slides for any DT engagement.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91440" cy="15087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Strategy &amp; Vision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Definition, pillars, maturity model, current vs future state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80160"/>
            <a:ext cx="91440" cy="15087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Roadmap &amp; Delivery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057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roadmap, swimlanes, prioritization matrix, architecture layers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971800"/>
            <a:ext cx="91440" cy="15087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Value &amp; Governance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315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framework, KPIs, risk matrix, stakeholder map, change model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71800"/>
            <a:ext cx="91440" cy="15087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Reusable Patterns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set, color system, card layouts, process flows — swap content only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Digital Transformation?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F294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continuous process of adapting an organization to create and capture value in the digital economy — by redesigning customer experiences, operating models, and technology platforms around data and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26974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analog information into digital form (e.g., paper → scan).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194560"/>
            <a:ext cx="26974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digital tools to improve existing processes (e.g., e-signature, RPA).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194560"/>
            <a:ext cx="2697480" cy="1097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Rethinking value propositions, business models, and ways of working.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 of Digital Transformation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credible framework covers these dimensions. Ignore one and the program becomes a tech deployment with change theatre.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17320"/>
            <a:ext cx="868680" cy="8686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&amp; Tools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200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APIs, data platform, security, automation, AI/ML, integration backbone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1430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417320"/>
            <a:ext cx="868680" cy="8686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69748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97480" y="3200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redesign, automation, product teams, agile delivery, decision rights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11430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417320"/>
            <a:ext cx="868680" cy="8686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00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89204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&amp; Skills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2040" y="3200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alignment, change management, digital skills, incentives, adoption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49440" y="1143000"/>
            <a:ext cx="205740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43800" y="1417320"/>
            <a:ext cx="868680" cy="8686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6002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08660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&amp; Assets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086600" y="3200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360, analytics, quality, governance, real-time decisioning, ML products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Maturity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where you are. Set a realistic target state. Sequence capability building accordingly.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645920" cy="3383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645920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tools, manual processes, limited data visibility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645920" cy="3383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188720"/>
            <a:ext cx="1645920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5740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24028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live, some automation, emerging data 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94760" y="1188720"/>
            <a:ext cx="1645920" cy="3383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94760" y="1188720"/>
            <a:ext cx="164592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224028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platforms, product teams, governed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1188720"/>
            <a:ext cx="1645920" cy="3383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1188720"/>
            <a:ext cx="164592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24028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OKRs, continuous delivery, real-time insight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1188720"/>
            <a:ext cx="1645920" cy="3383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1188720"/>
            <a:ext cx="1645920" cy="82296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6948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224028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ops, platform leverage, adaptive org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vs Future State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402336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Fragmented channels &amp;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Manual, paper-heavy processes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Limited real-time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Siloed data &amp; reporting lag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Reactive service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Technology as cost center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40233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Omnichannel digital experience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Automated, straight-through flows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Real-time KPIs &amp; decisioning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Unified customer &amp; ops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Proactive, personalized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Technology as value driver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Journey — Five Phases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64592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143000"/>
            <a:ext cx="731520" cy="73152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25603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maturity, value opportunities,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2286000"/>
            <a:ext cx="228600" cy="18288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914400"/>
            <a:ext cx="164592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43000"/>
            <a:ext cx="731520" cy="73152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67128" y="25603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outcomes, target operating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2286000"/>
            <a:ext cx="228600" cy="18288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4760" y="914400"/>
            <a:ext cx="164592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143000"/>
            <a:ext cx="731520" cy="73152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04488" y="25603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portfolio, sequencing, business case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0" y="2286000"/>
            <a:ext cx="228600" cy="18288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5532120" y="914400"/>
            <a:ext cx="164592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1143000"/>
            <a:ext cx="731520" cy="73152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41848" y="25603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Waves, MVPs, platforms, change &amp; adoption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86600" y="2286000"/>
            <a:ext cx="228600" cy="18288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914400"/>
            <a:ext cx="1645920" cy="3200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26680" y="1143000"/>
            <a:ext cx="731520" cy="73152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79208" y="25603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tracking, continuous improvement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between phases: evidence of value, feasibility, and adoption readiness.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Roadmap — Phases × Workstreams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554480" y="6400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F2942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685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23360" y="6400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685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640080"/>
            <a:ext cx="2331720" cy="365760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685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F294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11430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API  ·  Data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11430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  ·  Observability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1430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products  ·  Platform scale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5740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F294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20574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journeys  ·  Workflow engine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0574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Straight-through  ·  Ops redesign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0574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F294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54480" y="2971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 ·  Training v1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2971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redesign  ·  Incentives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2971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fluency  ·  Culture embed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8620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0F2942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554480" y="3886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&amp; PMO  ·  Security baseline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23360" y="3886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cadence  ·  Risk reviews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3886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realization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Framework — Where Digital Creates Returns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057400" cy="3840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20574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Digital sales channels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Cross-sell / up-sell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New products &amp; markets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 lifetime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822960"/>
            <a:ext cx="2057400" cy="3840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22960"/>
            <a:ext cx="205740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Self-service deflection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Process automation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Legacy decommission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Lower cost-to-serve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2057400" cy="3840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822960"/>
            <a:ext cx="2057400" cy="64008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Control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 readiness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Cyber resilience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Regulatory agility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822960"/>
            <a:ext cx="2057400" cy="38404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822960"/>
            <a:ext cx="2057400" cy="6400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&amp; Agility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NPS / CSAT uplift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Faster cycle times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Employee experience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Time-to-market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&amp; Architecture Layers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685800"/>
            <a:ext cx="7680960" cy="73152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77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mobile, portals, agent desktop, partner APIs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731520"/>
          </a:xfrm>
          <a:prstGeom prst="roundRect">
            <a:avLst>
              <a:gd name="adj" fmla="val 75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Process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Journeys, workflow, rules, case management, automation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731520"/>
          </a:xfrm>
          <a:prstGeom prst="roundRect">
            <a:avLst>
              <a:gd name="adj" fmla="val 7500"/>
            </a:avLst>
          </a:prstGeom>
          <a:solidFill>
            <a:srgbClr val="0F29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Intelligence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360, analytics, ML models, event streams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7680960" cy="73152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API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gateway, event bus, legacy adapters, iPaaS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7680960" cy="73152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Infrastructure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identity, security, CI/CD, observability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Matrix — Value vs Effort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 rot="16200000">
            <a:off x="137160" y="256032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685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value, high effort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carefully; stage MVPs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685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value, low effort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first — build momentum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697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Fill-ins / Avoid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value, high effort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or drop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6974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Low-Hanging Fruit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value, low effort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Opportunistic if capacity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— Adoption Workstream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alone does not transform. Behavior change does.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822960" cy="82296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1554480"/>
            <a:ext cx="777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influence, interest, resistance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822960" cy="82296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1554480"/>
            <a:ext cx="777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processes, skills affected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188720"/>
            <a:ext cx="822960" cy="82296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1554480"/>
            <a:ext cx="777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change, what's in it for 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188720"/>
            <a:ext cx="822960" cy="82296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58000" y="1554480"/>
            <a:ext cx="777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curricula, champions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1188720"/>
            <a:ext cx="822960" cy="82296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68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feedback, incentives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adoption as a workstream with its own milestones, owners, and metrics (utilization, proficiency, satisfaction) — not a go-live checklist item.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0" y="77724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0F294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/ Sponsor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funding, major trade-offs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Office / PMO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Portfolio, roadmap, benefits, risks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Domain Teams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outcomes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/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enablement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&amp; Adoption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Comms, training, champions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Cadence: weekly delivery · bi-weekly portfolio · monthly steering · quarterly strategy refresh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Benefits &amp; KPI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self-service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vs 42%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731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cycle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days to activate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31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Cost-to-serve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interaction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731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target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51460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669280" y="2514600"/>
            <a:ext cx="3108960" cy="2286000"/>
          </a:xfrm>
          <a:prstGeom prst="roundRect">
            <a:avLst>
              <a:gd name="adj" fmla="val 4000"/>
            </a:avLst>
          </a:prstGeom>
          <a:solidFill>
            <a:srgbClr val="0F2942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8521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Active digital users / week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5216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STP rate on key journeys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52160" y="3694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Training completion 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5216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Champion network health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5216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Change request cycle time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Landscape — Typical DT Risks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828800" cy="36576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777240"/>
            <a:ext cx="822960" cy="36576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822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926080" cy="36576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777240"/>
            <a:ext cx="2560320" cy="36576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1188720"/>
            <a:ext cx="822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18872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lag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1325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bypass new tools; benefits delayed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Champions, incentives, simplify 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783080"/>
            <a:ext cx="182880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1783080"/>
            <a:ext cx="822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783080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783080"/>
            <a:ext cx="25603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dependency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1920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systems constrain speed &amp; design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layer, strangler pattern, dual-run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37744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0" y="2377440"/>
            <a:ext cx="822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37744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37744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2514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change dilutes value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CCB, MoSCoW, MVP discipline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971800"/>
            <a:ext cx="182880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71800"/>
            <a:ext cx="822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2971800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971800"/>
            <a:ext cx="25603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28600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918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automation fail on bad data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program, stewardship, golden sources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356616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3566160"/>
            <a:ext cx="822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356616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356616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gap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286000" y="3703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2918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run capacity insufficient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Hiring, partners, upskilling paths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160520"/>
            <a:ext cx="182880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0" y="4160520"/>
            <a:ext cx="822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4160520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4160520"/>
            <a:ext cx="256032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&amp; privacy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286000" y="4297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2918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attack surface &amp; data use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3093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by design, PIAs, continuous test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 — Influence vs Interest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Closely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sponsors, process owners, key regulators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7315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Satisfied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Board, major partners, security/compliance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Informed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employees, customers, suppliers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stakeholders, industry bodies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Asset Legend &amp; Color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Palette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0F2942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1430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0D9488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1430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D4A017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1430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1E293B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1430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 F8FAFC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Types You Can Recycle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Title / section dividers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4-pillar / multi-card grids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Horizontal process / journey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Swimlane roadmap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2×2 matrices (value/effort, influence/interest)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Layered architecture stack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KPI stat cards + chart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Risk / RACI 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Before/after comparison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Governance org diagram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tailor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this deck, swap in your industry metrics, system names, and initiative cards.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structure — change the content. That is how master assets stay useful.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Master Deck  · 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Master Deck – Reusable Assets</dc:title>
  <dc:subject>Frameworks, diagrams, and charts for DT programs</dc:subject>
  <dc:creator>Digital Transformation PMO</dc:creator>
  <cp:lastModifiedBy>Digital Transformation PMO</cp:lastModifiedBy>
  <cp:revision>1</cp:revision>
  <dcterms:created xsi:type="dcterms:W3CDTF">2026-09-23T08:12:17Z</dcterms:created>
  <dcterms:modified xsi:type="dcterms:W3CDTF">2026-09-23T08:12:17Z</dcterms:modified>
</cp:coreProperties>
</file>