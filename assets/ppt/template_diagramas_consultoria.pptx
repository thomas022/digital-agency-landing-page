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760720" cy="576072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474720" cy="3474720"/>
          </a:xfrm>
          <a:prstGeom prst="ellipse">
            <a:avLst/>
          </a:prstGeom>
          <a:solidFill>
            <a:srgbClr val="132A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DIAGRAMAS REUTILIZÁVEIS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08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de Diagramas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diagramas prontos — copie a página e adapte texto, datas e cores em qualquer apresentação.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736092" cy="420624"/>
          </a:xfrm>
          <a:prstGeom prst="rect">
            <a:avLst/>
          </a:prstGeom>
          <a:solidFill>
            <a:srgbClr val="132A52"/>
          </a:solidFill>
          <a:ln w="12700">
            <a:solidFill>
              <a:srgbClr val="1C36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200400"/>
            <a:ext cx="7360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41932" y="3200400"/>
            <a:ext cx="1600200" cy="420624"/>
          </a:xfrm>
          <a:prstGeom prst="rect">
            <a:avLst/>
          </a:prstGeom>
          <a:solidFill>
            <a:srgbClr val="132A52"/>
          </a:solidFill>
          <a:ln w="12700">
            <a:solidFill>
              <a:srgbClr val="1C36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41932" y="32004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5012" y="3200400"/>
            <a:ext cx="1216152" cy="420624"/>
          </a:xfrm>
          <a:prstGeom prst="rect">
            <a:avLst/>
          </a:prstGeom>
          <a:solidFill>
            <a:srgbClr val="132A52"/>
          </a:solidFill>
          <a:ln w="12700">
            <a:solidFill>
              <a:srgbClr val="1C36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5012" y="3200400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Fluxograma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24044" y="3200400"/>
            <a:ext cx="1312164" cy="420624"/>
          </a:xfrm>
          <a:prstGeom prst="rect">
            <a:avLst/>
          </a:prstGeom>
          <a:solidFill>
            <a:srgbClr val="132A52"/>
          </a:solidFill>
          <a:ln w="12700">
            <a:solidFill>
              <a:srgbClr val="1C36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24044" y="3200400"/>
            <a:ext cx="13121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Organograma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19088" y="3200400"/>
            <a:ext cx="1216152" cy="420624"/>
          </a:xfrm>
          <a:prstGeom prst="rect">
            <a:avLst/>
          </a:prstGeom>
          <a:solidFill>
            <a:srgbClr val="132A52"/>
          </a:solidFill>
          <a:ln w="12700">
            <a:solidFill>
              <a:srgbClr val="1C36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19088" y="3200400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2x2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18120" y="3200400"/>
            <a:ext cx="736092" cy="420624"/>
          </a:xfrm>
          <a:prstGeom prst="rect">
            <a:avLst/>
          </a:prstGeom>
          <a:solidFill>
            <a:srgbClr val="132A52"/>
          </a:solidFill>
          <a:ln w="12700">
            <a:solidFill>
              <a:srgbClr val="1C36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3200400"/>
            <a:ext cx="7360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37092" y="3200400"/>
            <a:ext cx="1312164" cy="420624"/>
          </a:xfrm>
          <a:prstGeom prst="rect">
            <a:avLst/>
          </a:prstGeom>
          <a:solidFill>
            <a:srgbClr val="132A52"/>
          </a:solidFill>
          <a:ln w="12700">
            <a:solidFill>
              <a:srgbClr val="1C36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37092" y="3200400"/>
            <a:ext cx="13121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232136" y="3200400"/>
            <a:ext cx="640080" cy="420624"/>
          </a:xfrm>
          <a:prstGeom prst="rect">
            <a:avLst/>
          </a:prstGeom>
          <a:solidFill>
            <a:srgbClr val="132A52"/>
          </a:solidFill>
          <a:ln w="12700">
            <a:solidFill>
              <a:srgbClr val="1C36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32136" y="320040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3785616"/>
            <a:ext cx="1408176" cy="420624"/>
          </a:xfrm>
          <a:prstGeom prst="rect">
            <a:avLst/>
          </a:prstGeom>
          <a:solidFill>
            <a:srgbClr val="132A52"/>
          </a:solidFill>
          <a:ln w="12700">
            <a:solidFill>
              <a:srgbClr val="1C36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785616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Antes/Depois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DIAGRAMAS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do projeto (Gantt)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87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Fases, duração e progresso — ajuste tarefas, semanas e a linha do tempo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4303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87752"/>
            <a:ext cx="10543032" cy="438912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026664"/>
            <a:ext cx="1054303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465576"/>
            <a:ext cx="10543032" cy="438912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904488"/>
            <a:ext cx="10543032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4343400"/>
            <a:ext cx="10543032" cy="438912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91840" y="1828800"/>
            <a:ext cx="807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0" cy="2953512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99255" y="1828800"/>
            <a:ext cx="807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99255" y="1828800"/>
            <a:ext cx="0" cy="2953512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06670" y="1828800"/>
            <a:ext cx="807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06670" y="1828800"/>
            <a:ext cx="0" cy="2953512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14086" y="1828800"/>
            <a:ext cx="807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4086" y="1828800"/>
            <a:ext cx="0" cy="2953512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21501" y="1828800"/>
            <a:ext cx="807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21501" y="1828800"/>
            <a:ext cx="0" cy="2953512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28916" y="1828800"/>
            <a:ext cx="807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28916" y="1828800"/>
            <a:ext cx="0" cy="2953512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6331" y="1828800"/>
            <a:ext cx="807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6331" y="1828800"/>
            <a:ext cx="0" cy="2953512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43746" y="1828800"/>
            <a:ext cx="807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43746" y="1828800"/>
            <a:ext cx="0" cy="2953512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51162" y="1828800"/>
            <a:ext cx="807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751162" y="1828800"/>
            <a:ext cx="0" cy="2953512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58577" y="1828800"/>
            <a:ext cx="807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558577" y="1828800"/>
            <a:ext cx="0" cy="2953512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365992" y="1828800"/>
            <a:ext cx="0" cy="2953512"/>
          </a:xfrm>
          <a:prstGeom prst="line">
            <a:avLst/>
          </a:prstGeom>
          <a:noFill/>
          <a:ln w="9525">
            <a:solidFill>
              <a:srgbClr val="E3E8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2148840"/>
            <a:ext cx="10543032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91840" y="2231136"/>
            <a:ext cx="1614830" cy="274320"/>
          </a:xfrm>
          <a:prstGeom prst="roundRect">
            <a:avLst>
              <a:gd name="adj" fmla="val 16667"/>
            </a:avLst>
          </a:prstGeom>
          <a:solidFill>
            <a:srgbClr val="0A1E3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291840" y="2231136"/>
            <a:ext cx="1614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25877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da solução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099255" y="2670048"/>
            <a:ext cx="2422246" cy="274320"/>
          </a:xfrm>
          <a:prstGeom prst="roundRect">
            <a:avLst>
              <a:gd name="adj" fmla="val 16667"/>
            </a:avLst>
          </a:prstGeom>
          <a:solidFill>
            <a:srgbClr val="0A1E3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099255" y="2670048"/>
            <a:ext cx="2422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8680" y="302666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714086" y="3108960"/>
            <a:ext cx="3229661" cy="274320"/>
          </a:xfrm>
          <a:prstGeom prst="roundRect">
            <a:avLst>
              <a:gd name="adj" fmla="val 16667"/>
            </a:avLst>
          </a:prstGeom>
          <a:solidFill>
            <a:srgbClr val="0A1E3F"/>
          </a:solidFill>
          <a:ln/>
        </p:spPr>
      </p:sp>
      <p:sp>
        <p:nvSpPr>
          <p:cNvPr id="41" name="Shape 39"/>
          <p:cNvSpPr/>
          <p:nvPr/>
        </p:nvSpPr>
        <p:spPr>
          <a:xfrm>
            <a:off x="5714086" y="3108960"/>
            <a:ext cx="1776313" cy="274320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714086" y="3108960"/>
            <a:ext cx="32296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8680" y="34655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136331" y="3547872"/>
            <a:ext cx="1614830" cy="274320"/>
          </a:xfrm>
          <a:prstGeom prst="roundRect">
            <a:avLst>
              <a:gd name="adj" fmla="val 16667"/>
            </a:avLst>
          </a:prstGeom>
          <a:solidFill>
            <a:srgbClr val="0A1E3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136331" y="3547872"/>
            <a:ext cx="1614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68680" y="39044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943746" y="3986784"/>
            <a:ext cx="1614830" cy="274320"/>
          </a:xfrm>
          <a:prstGeom prst="roundRect">
            <a:avLst>
              <a:gd name="adj" fmla="val 16667"/>
            </a:avLst>
          </a:prstGeom>
          <a:solidFill>
            <a:srgbClr val="0A1E3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943746" y="3986784"/>
            <a:ext cx="1614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868680" y="43434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&amp; treinamento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751162" y="4425696"/>
            <a:ext cx="1614830" cy="274320"/>
          </a:xfrm>
          <a:prstGeom prst="roundRect">
            <a:avLst>
              <a:gd name="adj" fmla="val 16667"/>
            </a:avLst>
          </a:prstGeom>
          <a:solidFill>
            <a:srgbClr val="0A1E3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751162" y="4425696"/>
            <a:ext cx="1614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328916" y="1828800"/>
            <a:ext cx="0" cy="2953512"/>
          </a:xfrm>
          <a:prstGeom prst="line">
            <a:avLst/>
          </a:prstGeom>
          <a:noFill/>
          <a:ln w="19050">
            <a:solidFill>
              <a:srgbClr val="0EA5C4"/>
            </a:solidFill>
            <a:prstDash val="dash"/>
          </a:ln>
        </p:spPr>
      </p:sp>
      <p:sp>
        <p:nvSpPr>
          <p:cNvPr id="53" name="Text 51"/>
          <p:cNvSpPr txBox="1"/>
          <p:nvPr/>
        </p:nvSpPr>
        <p:spPr>
          <a:xfrm>
            <a:off x="7008876" y="15361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22960" y="5056632"/>
            <a:ext cx="256032" cy="18288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170432" y="50017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560320" y="5056632"/>
            <a:ext cx="256032" cy="1828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2907792" y="5001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execução (progresso)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DIAGRAMAS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do tempo do projeto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87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principais — troque títulos e datas mantendo a estrutura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371600" y="3749040"/>
            <a:ext cx="9418320" cy="0"/>
          </a:xfrm>
          <a:prstGeom prst="line">
            <a:avLst/>
          </a:prstGeom>
          <a:noFill/>
          <a:ln w="38100">
            <a:solidFill>
              <a:srgbClr val="E3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3630168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A1E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3127248"/>
            <a:ext cx="0" cy="502920"/>
          </a:xfrm>
          <a:prstGeom prst="line">
            <a:avLst/>
          </a:prstGeom>
          <a:noFill/>
          <a:ln w="19050">
            <a:solidFill>
              <a:srgbClr val="1C366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28600" y="2167128"/>
            <a:ext cx="2286000" cy="91440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" y="2286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5511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07308" y="3630168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A1E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6180" y="3867912"/>
            <a:ext cx="0" cy="502920"/>
          </a:xfrm>
          <a:prstGeom prst="line">
            <a:avLst/>
          </a:prstGeom>
          <a:noFill/>
          <a:ln w="19050">
            <a:solidFill>
              <a:srgbClr val="1C366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83180" y="4416552"/>
            <a:ext cx="2286000" cy="91440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20340" y="4535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720340" y="4800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concluído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61888" y="3630168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A1E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3127248"/>
            <a:ext cx="0" cy="502920"/>
          </a:xfrm>
          <a:prstGeom prst="line">
            <a:avLst/>
          </a:prstGeom>
          <a:noFill/>
          <a:ln w="19050">
            <a:solidFill>
              <a:srgbClr val="1C366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937760" y="2167128"/>
            <a:ext cx="2286000" cy="91440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74920" y="2286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25511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entregue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16468" y="3630168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A1E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5340" y="3867912"/>
            <a:ext cx="0" cy="502920"/>
          </a:xfrm>
          <a:prstGeom prst="line">
            <a:avLst/>
          </a:prstGeom>
          <a:noFill/>
          <a:ln w="19050">
            <a:solidFill>
              <a:srgbClr val="1C366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292340" y="4416552"/>
            <a:ext cx="2286000" cy="91440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29500" y="4535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9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429500" y="4800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concluídos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671048" y="3630168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A1E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89920" y="3127248"/>
            <a:ext cx="0" cy="502920"/>
          </a:xfrm>
          <a:prstGeom prst="line">
            <a:avLst/>
          </a:prstGeom>
          <a:noFill/>
          <a:ln w="19050">
            <a:solidFill>
              <a:srgbClr val="1C366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646920" y="2167128"/>
            <a:ext cx="2286000" cy="91440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84080" y="2286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10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784080" y="25511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DIAGRAMAS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Fluxograma de processo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87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e ponto de decisão — reorganize as caixas conforme o seu processo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31720" y="2811780"/>
            <a:ext cx="292608" cy="0"/>
          </a:xfrm>
          <a:prstGeom prst="line">
            <a:avLst/>
          </a:prstGeom>
          <a:noFill/>
          <a:ln w="22225">
            <a:solidFill>
              <a:srgbClr val="0A1E3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24328" y="24231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15768" y="24231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dados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5968" y="2811780"/>
            <a:ext cx="292608" cy="0"/>
          </a:xfrm>
          <a:prstGeom prst="line">
            <a:avLst/>
          </a:prstGeom>
          <a:noFill/>
          <a:ln w="22225">
            <a:solidFill>
              <a:srgbClr val="0A1E3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08576" y="2240280"/>
            <a:ext cx="1554480" cy="1143000"/>
          </a:xfrm>
          <a:prstGeom prst="diamond">
            <a:avLst/>
          </a:prstGeom>
          <a:solidFill>
            <a:srgbClr val="0A1E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08576" y="224028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3056" y="2811780"/>
            <a:ext cx="292608" cy="0"/>
          </a:xfrm>
          <a:prstGeom prst="line">
            <a:avLst/>
          </a:prstGeom>
          <a:noFill/>
          <a:ln w="22225">
            <a:solidFill>
              <a:srgbClr val="0EA5C4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208776" y="24277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55664" y="24231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0A1E3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47104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ação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30184" y="2811780"/>
            <a:ext cx="292608" cy="0"/>
          </a:xfrm>
          <a:prstGeom prst="line">
            <a:avLst/>
          </a:prstGeom>
          <a:noFill/>
          <a:ln w="22225">
            <a:solidFill>
              <a:srgbClr val="0A1E3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22792" y="242316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14232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85816" y="3383280"/>
            <a:ext cx="0" cy="502920"/>
          </a:xfrm>
          <a:prstGeom prst="line">
            <a:avLst/>
          </a:prstGeom>
          <a:noFill/>
          <a:ln w="22225">
            <a:solidFill>
              <a:srgbClr val="0EA5C4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458968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51376" y="38862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42816" y="3886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 para revisão manual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DIAGRAMAS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Organograma do projeto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87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governança — substitua caixas e papéis pela sua equipe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39996" y="178308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0A1E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39996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Patrocinador executivo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2423160"/>
            <a:ext cx="0" cy="502920"/>
          </a:xfrm>
          <a:prstGeom prst="line">
            <a:avLst/>
          </a:prstGeom>
          <a:noFill/>
          <a:ln w="19050">
            <a:solidFill>
              <a:srgbClr val="1C36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39996" y="292608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0EA5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39996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projeto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94476" y="3566160"/>
            <a:ext cx="0" cy="365760"/>
          </a:xfrm>
          <a:prstGeom prst="line">
            <a:avLst/>
          </a:prstGeom>
          <a:noFill/>
          <a:ln w="19050">
            <a:solidFill>
              <a:srgbClr val="1C36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94076" y="3931920"/>
            <a:ext cx="6400800" cy="0"/>
          </a:xfrm>
          <a:prstGeom prst="line">
            <a:avLst/>
          </a:prstGeom>
          <a:noFill/>
          <a:ln w="19050">
            <a:solidFill>
              <a:srgbClr val="1C36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94076" y="3931920"/>
            <a:ext cx="0" cy="320040"/>
          </a:xfrm>
          <a:prstGeom prst="line">
            <a:avLst/>
          </a:prstGeom>
          <a:noFill/>
          <a:ln w="19050">
            <a:solidFill>
              <a:srgbClr val="1C36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53896" y="425196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36776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— Consultoria Digital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636776" y="4818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 estratégia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4476" y="3931920"/>
            <a:ext cx="0" cy="320040"/>
          </a:xfrm>
          <a:prstGeom prst="line">
            <a:avLst/>
          </a:prstGeom>
          <a:noFill/>
          <a:ln w="19050">
            <a:solidFill>
              <a:srgbClr val="1C36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425196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37176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— Engenharia de Software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4818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integrações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94876" y="3931920"/>
            <a:ext cx="0" cy="320040"/>
          </a:xfrm>
          <a:prstGeom prst="line">
            <a:avLst/>
          </a:prstGeom>
          <a:noFill/>
          <a:ln w="19050">
            <a:solidFill>
              <a:srgbClr val="1C36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54696" y="425196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37576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— Dados &amp; IA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037576" y="4818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analytics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DIAGRAMAS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priorização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87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x esforço — mova os pontos para priorizar suas iniciativas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0" y="1783080"/>
            <a:ext cx="3200400" cy="2080260"/>
          </a:xfrm>
          <a:prstGeom prst="rect">
            <a:avLst/>
          </a:prstGeom>
          <a:solidFill>
            <a:srgbClr val="DFF9F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1783080"/>
            <a:ext cx="3200400" cy="208026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3863340"/>
            <a:ext cx="3200400" cy="20802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3863340"/>
            <a:ext cx="3200400" cy="208026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1783080"/>
            <a:ext cx="6400800" cy="4160520"/>
          </a:xfrm>
          <a:prstGeom prst="rect">
            <a:avLst/>
          </a:prstGeom>
          <a:ln w="19050">
            <a:solidFill>
              <a:srgbClr val="0A1E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783080"/>
            <a:ext cx="0" cy="4160520"/>
          </a:xfrm>
          <a:prstGeom prst="line">
            <a:avLst/>
          </a:prstGeom>
          <a:noFill/>
          <a:ln w="12700">
            <a:solidFill>
              <a:srgbClr val="0A1E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3863340"/>
            <a:ext cx="6400800" cy="0"/>
          </a:xfrm>
          <a:prstGeom prst="line">
            <a:avLst/>
          </a:prstGeom>
          <a:noFill/>
          <a:ln w="12700">
            <a:solidFill>
              <a:srgbClr val="0A1E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892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APOSTAS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5577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LACUNAS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5577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RECONSIDERAR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 rot="16200000">
            <a:off x="2331720" y="36804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→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6080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81144" y="2615184"/>
            <a:ext cx="164592" cy="164592"/>
          </a:xfrm>
          <a:prstGeom prst="ellipse">
            <a:avLst/>
          </a:prstGeom>
          <a:solidFill>
            <a:srgbClr val="0A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91456" y="2569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faturamento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95544" y="2340864"/>
            <a:ext cx="164592" cy="164592"/>
          </a:xfrm>
          <a:prstGeom prst="ellipse">
            <a:avLst/>
          </a:prstGeom>
          <a:solidFill>
            <a:srgbClr val="0A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05856" y="22951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de atendimento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55864" y="2798064"/>
            <a:ext cx="164592" cy="164592"/>
          </a:xfrm>
          <a:prstGeom prst="ellipse">
            <a:avLst/>
          </a:prstGeom>
          <a:solidFill>
            <a:srgbClr val="0A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66176" y="27523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ERP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06824" y="5152644"/>
            <a:ext cx="164592" cy="164592"/>
          </a:xfrm>
          <a:prstGeom prst="ellipse">
            <a:avLst/>
          </a:prstGeom>
          <a:solidFill>
            <a:srgbClr val="0A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17136" y="51069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financeiro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81544" y="5426964"/>
            <a:ext cx="164592" cy="164592"/>
          </a:xfrm>
          <a:prstGeom prst="ellipse">
            <a:avLst/>
          </a:prstGeom>
          <a:solidFill>
            <a:srgbClr val="0A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91856" y="53812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de sistema legado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DIAGRAMAS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Funil de conversão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87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Estágios e taxa em cada etapa — ajuste rótulos e percentuais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80160" y="1783080"/>
            <a:ext cx="5852160" cy="658368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1783080"/>
            <a:ext cx="5852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1226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12.400 · 100%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conversão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60220" y="2569464"/>
            <a:ext cx="4892040" cy="658368"/>
          </a:xfrm>
          <a:prstGeom prst="rect">
            <a:avLst/>
          </a:prstGeom>
          <a:solidFill>
            <a:srgbClr val="123A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60220" y="2569464"/>
            <a:ext cx="489204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qualificados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760220" y="28986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7.690 · 62%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7340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de conversão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3355848"/>
            <a:ext cx="3931920" cy="658368"/>
          </a:xfrm>
          <a:prstGeom prst="rect">
            <a:avLst/>
          </a:prstGeom>
          <a:solidFill>
            <a:srgbClr val="1553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40280" y="3355848"/>
            <a:ext cx="3931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Propostas enviadas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36850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4.710 · 38%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de conversão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20340" y="4142232"/>
            <a:ext cx="2971800" cy="658368"/>
          </a:xfrm>
          <a:prstGeom prst="rect">
            <a:avLst/>
          </a:prstGeom>
          <a:solidFill>
            <a:srgbClr val="0EA5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720340" y="4142232"/>
            <a:ext cx="29718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negociação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720340" y="447141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2.730 · 22%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43068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de conversão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4928616"/>
            <a:ext cx="2011680" cy="6583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00400" y="4928616"/>
            <a:ext cx="20116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52578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1.490 · 12%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5093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de conversão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DIAGRAMAS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integração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87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dados, núcleo de automação e saídas — troque os sistemas pelos seus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2231136"/>
            <a:ext cx="1385316" cy="854964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2880360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8803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V="1">
            <a:off x="3108960" y="3086100"/>
            <a:ext cx="1385316" cy="150876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3886200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862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/ e-mail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V="1">
            <a:off x="3108960" y="3086100"/>
            <a:ext cx="1385316" cy="1156716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79992" y="1874520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79992" y="18745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V="1">
            <a:off x="7694676" y="2231136"/>
            <a:ext cx="1385316" cy="854964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79992" y="2880360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9992" y="28803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94676" y="3086100"/>
            <a:ext cx="1385316" cy="150876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79992" y="3886200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F5F8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9992" y="38862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94676" y="3086100"/>
            <a:ext cx="1385316" cy="1156716"/>
          </a:xfrm>
          <a:prstGeom prst="line">
            <a:avLst/>
          </a:prstGeom>
          <a:noFill/>
          <a:ln w="1587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94276" y="1783080"/>
            <a:ext cx="3200400" cy="2606040"/>
          </a:xfrm>
          <a:prstGeom prst="roundRect">
            <a:avLst>
              <a:gd name="adj" fmla="val 2807"/>
            </a:avLst>
          </a:prstGeom>
          <a:solidFill>
            <a:srgbClr val="0A1E3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22876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 integração &amp; IA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22876" y="277977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24044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 limpa os dados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22876" y="3310128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24044" y="31821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 com IA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22876" y="384048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24044" y="371246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 para o destino certo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DIAGRAMAS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SWOT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87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Forças, fraquezas, oportunidades e ameaças — edite os itens de cada quadrante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134356" cy="196596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947672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2450592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2322576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experiente em automação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2852928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2724912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comprovada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3255264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312724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relação com clientes atuais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1636" y="1783080"/>
            <a:ext cx="5134356" cy="196596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0236" y="1947672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Fraquezas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60236" y="2450592"/>
            <a:ext cx="73152" cy="73152"/>
          </a:xfrm>
          <a:prstGeom prst="ellipse">
            <a:avLst/>
          </a:prstGeom>
          <a:solidFill>
            <a:srgbClr val="0A1E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43116" y="2322576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poucos especialistas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0236" y="2852928"/>
            <a:ext cx="73152" cy="73152"/>
          </a:xfrm>
          <a:prstGeom prst="ellipse">
            <a:avLst/>
          </a:prstGeom>
          <a:solidFill>
            <a:srgbClr val="0A1E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43116" y="2724912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internos pouco documentados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60236" y="3255264"/>
            <a:ext cx="73152" cy="73152"/>
          </a:xfrm>
          <a:prstGeom prst="ellipse">
            <a:avLst/>
          </a:prstGeom>
          <a:solidFill>
            <a:srgbClr val="0A1E3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43116" y="312724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legadas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023360"/>
            <a:ext cx="5134356" cy="1965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4187952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51560" y="4690872"/>
            <a:ext cx="73152" cy="73152"/>
          </a:xfrm>
          <a:prstGeom prst="ellipse">
            <a:avLst/>
          </a:prstGeom>
          <a:solidFill>
            <a:srgbClr val="0A1E3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34440" y="4562856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crescente por IA aplicada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1560" y="5093208"/>
            <a:ext cx="73152" cy="73152"/>
          </a:xfrm>
          <a:prstGeom prst="ellipse">
            <a:avLst/>
          </a:prstGeom>
          <a:solidFill>
            <a:srgbClr val="0A1E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34440" y="4965192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setores a explorar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51560" y="5495544"/>
            <a:ext cx="73152" cy="73152"/>
          </a:xfrm>
          <a:prstGeom prst="ellipse">
            <a:avLst/>
          </a:prstGeom>
          <a:solidFill>
            <a:srgbClr val="0A1E3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234440" y="536752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com fornecedores de tecnologia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4023360"/>
            <a:ext cx="5134356" cy="1965960"/>
          </a:xfrm>
          <a:prstGeom prst="rect">
            <a:avLst/>
          </a:prstGeom>
          <a:solidFill>
            <a:srgbClr val="132A5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60236" y="4187952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Ameaças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60236" y="4690872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43116" y="4562856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de grandes consultorias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60236" y="5093208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43116" y="4965192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regulatórias em dados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60236" y="5495544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43116" y="5367528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venda longos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DIAGRAMAS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5992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e depois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87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de transformação — substitua pelos indicadores do seu projeto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480560" cy="4114800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6" name="Shape 4"/>
          <p:cNvSpPr/>
          <p:nvPr/>
        </p:nvSpPr>
        <p:spPr>
          <a:xfrm>
            <a:off x="6885432" y="1828800"/>
            <a:ext cx="4480560" cy="4114800"/>
          </a:xfrm>
          <a:prstGeom prst="rect">
            <a:avLst/>
          </a:prstGeom>
          <a:solidFill>
            <a:srgbClr val="0A1E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59752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44752" y="2697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manuais em planilhas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07224" y="2697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automatizados ponta a ponta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4472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44752" y="34472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espalhados em várias ferramentas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344728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507224" y="34472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centralizados e confiáveis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19709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41970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baseadas em intuição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419709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07224" y="41970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guiadas por dashboards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94690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44752" y="49469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 em dias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159752" y="494690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07224" y="49469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 em minutos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40680" y="3886200"/>
            <a:ext cx="1307592" cy="0"/>
          </a:xfrm>
          <a:prstGeom prst="line">
            <a:avLst/>
          </a:prstGeom>
          <a:noFill/>
          <a:ln w="38100">
            <a:solidFill>
              <a:srgbClr val="0EA5C4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ESSEDE DIGITAL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DIAGRAMAS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2026-09-23T07:40:36Z</dcterms:created>
  <dcterms:modified xsi:type="dcterms:W3CDTF">2026-09-23T07:40:36Z</dcterms:modified>
</cp:coreProperties>
</file>